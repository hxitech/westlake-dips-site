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65" r:id="rId4"/>
    <p:sldId id="268" r:id="rId5"/>
    <p:sldId id="266" r:id="rId6"/>
    <p:sldId id="259" r:id="rId7"/>
    <p:sldId id="269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891"/>
          <a:stretch>
            <a:fillRect/>
          </a:stretch>
        </p:blipFill>
        <p:spPr>
          <a:xfrm>
            <a:off x="1257300" y="674370"/>
            <a:ext cx="8006080" cy="7315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03190" y="601980"/>
            <a:ext cx="1202690" cy="88455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545455" y="1565275"/>
            <a:ext cx="1391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改成</a:t>
            </a:r>
            <a:r>
              <a:rPr lang="en-US" altLang="zh-CN" sz="1400" b="1"/>
              <a:t>  </a:t>
            </a:r>
            <a:r>
              <a:rPr lang="zh-CN" altLang="en-US" sz="1400" b="1"/>
              <a:t>合作伙伴</a:t>
            </a:r>
            <a:endParaRPr lang="zh-CN" altLang="en-US" sz="14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135505"/>
            <a:ext cx="5200650" cy="18859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0"/>
            <a:ext cx="456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首页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7930" y="3576955"/>
            <a:ext cx="1172845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763520" y="4153535"/>
            <a:ext cx="1391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改成</a:t>
            </a:r>
            <a:r>
              <a:rPr lang="en-US" altLang="zh-CN" sz="1400" b="1"/>
              <a:t>  5</a:t>
            </a:r>
            <a:r>
              <a:rPr lang="zh-CN" altLang="en-US" sz="1400" b="1"/>
              <a:t>月</a:t>
            </a:r>
            <a:r>
              <a:rPr lang="en-US" altLang="zh-CN" sz="1400" b="1"/>
              <a:t>10</a:t>
            </a:r>
            <a:r>
              <a:rPr lang="zh-CN" altLang="en-US" sz="1400" b="1"/>
              <a:t>日</a:t>
            </a:r>
            <a:endParaRPr lang="zh-CN" altLang="en-US" sz="14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642235"/>
            <a:ext cx="3719830" cy="394906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092440" y="3011805"/>
            <a:ext cx="1526540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387715" y="2335530"/>
            <a:ext cx="29152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会议</a:t>
            </a:r>
            <a:r>
              <a:rPr lang="zh-CN" altLang="en-US" sz="1400" b="1"/>
              <a:t>只有一天</a:t>
            </a:r>
            <a:r>
              <a:rPr lang="en-US" altLang="zh-CN" sz="1400" b="1"/>
              <a:t>  </a:t>
            </a:r>
            <a:r>
              <a:rPr lang="zh-CN" altLang="en-US" sz="1400" b="1"/>
              <a:t>日程</a:t>
            </a:r>
            <a:r>
              <a:rPr lang="zh-CN" altLang="en-US" sz="1400" b="1"/>
              <a:t>待定</a:t>
            </a:r>
            <a:endParaRPr lang="zh-CN" altLang="en-US" sz="1400" b="1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4857750"/>
            <a:ext cx="4285615" cy="17335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371600" y="4460240"/>
            <a:ext cx="1391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待定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1257300" y="4750435"/>
            <a:ext cx="1172845" cy="48895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0" y="0"/>
            <a:ext cx="456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关于峰会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515" y="2779395"/>
            <a:ext cx="6087745" cy="36887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355600" algn="ctr" fontAlgn="auto">
              <a:extLst>
                <a:ext uri="{35155182-B16C-46BC-9424-99874614C6A1}">
                  <wpsdc:indentchars xmlns:wpsdc="http://www.wps.cn/officeDocument/2017/drawingmlCustomData" val="200" checksum="3837665281"/>
                </a:ext>
              </a:extLst>
            </a:pPr>
            <a:r>
              <a:rPr lang="zh-CN" altLang="en-US" sz="1400" b="1"/>
              <a:t>加上：峰会简介</a:t>
            </a:r>
            <a:endParaRPr lang="zh-CN" altLang="en-US" sz="1400" b="1"/>
          </a:p>
          <a:p>
            <a:pPr indent="355600" fontAlgn="auto">
              <a:extLst>
                <a:ext uri="{35155182-B16C-46BC-9424-99874614C6A1}">
                  <wpsdc:indentchars xmlns:wpsdc="http://www.wps.cn/officeDocument/2017/drawingmlCustomData" val="200" checksum="3837665281"/>
                </a:ext>
              </a:extLst>
            </a:pPr>
            <a:r>
              <a:rPr lang="zh-CN" altLang="en-US" sz="1400"/>
              <a:t>全国数智病理峰会（</a:t>
            </a:r>
            <a:r>
              <a:rPr lang="en-US" altLang="zh-CN" sz="1400"/>
              <a:t>Digital and Intelligent Pathology Summit, DIPS</a:t>
            </a:r>
            <a:r>
              <a:rPr lang="zh-CN" altLang="en-US" sz="1400"/>
              <a:t>）由国内顶尖高校与中华医学会病理学分会、北京精鉴病理学发展基金会共同发起，是国内聚焦人工智能大模型与病理学深度融合的高端学术会议。作为</a:t>
            </a:r>
            <a:r>
              <a:rPr lang="zh-CN" altLang="en-US" sz="1400"/>
              <a:t>行业专业学术盛会，峰会立足医工交叉创新方向，紧扣人工智能发展浪潮与病理学科临床需求，每届围绕前沿热点、技术突破、临床转化与产业融合设定核心主题，汇聚全球人工智能、数字病理及精准医疗领域的知名专家、临床大咖、科研人才与先锋代表，通过多元形式，分享前沿研究、临床应用与产业趋势，搭建思想交流、技术对接、合作共赢的高效平台，推动病理学从数字化迈向智能化，助力</a:t>
            </a:r>
            <a:r>
              <a:rPr lang="en-US" altLang="zh-CN" sz="1400"/>
              <a:t> AI </a:t>
            </a:r>
            <a:r>
              <a:rPr lang="zh-CN" altLang="en-US" sz="1400"/>
              <a:t>技术与病理临床、科研、产业深度融合，赋能精准医疗创新发展。</a:t>
            </a:r>
            <a:endParaRPr lang="zh-CN" altLang="en-US" sz="1400"/>
          </a:p>
          <a:p>
            <a:pPr indent="355600" fontAlgn="auto">
              <a:extLst>
                <a:ext uri="{35155182-B16C-46BC-9424-99874614C6A1}">
                  <wpsdc:indentchars xmlns:wpsdc="http://www.wps.cn/officeDocument/2017/drawingmlCustomData" val="200" checksum="3837665281"/>
                </a:ext>
              </a:extLst>
            </a:pPr>
            <a:r>
              <a:rPr lang="zh-CN" altLang="en-US" sz="1400"/>
              <a:t>未来，峰会将逐年举办、迭代升级，聚焦行业核心痛点与发展方向，不断拓宽交流边界、深化合作维度，致力打造数智病理领域学术交流高地、技术转化桥梁、产业合作平台与人才培养阵地，诚邀国内外同仁携手共探发展新路径，共促产业新升级，推动我国数智病理事业创新突破与国际接轨。</a:t>
            </a:r>
            <a:endParaRPr lang="zh-CN" altLang="en-US" sz="1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681990"/>
            <a:ext cx="5033645" cy="17837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890" y="734060"/>
            <a:ext cx="4984115" cy="16795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775825" y="1789430"/>
            <a:ext cx="1835785" cy="32004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739890" y="2093595"/>
            <a:ext cx="2939415" cy="32004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16800" y="2779395"/>
            <a:ext cx="4025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/>
              <a:t>这个</a:t>
            </a:r>
            <a:r>
              <a:rPr lang="zh-CN" altLang="en-US" sz="1400" b="1"/>
              <a:t>去掉，西北大学只办</a:t>
            </a:r>
            <a:r>
              <a:rPr lang="zh-CN" altLang="en-US" sz="1400" b="1"/>
              <a:t>第二届</a:t>
            </a:r>
            <a:endParaRPr lang="zh-CN" altLang="en-US" sz="1400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055" y="600075"/>
            <a:ext cx="6775450" cy="23215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55" y="3153410"/>
            <a:ext cx="6809740" cy="31356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0"/>
            <a:ext cx="456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关于峰会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50960" y="3472815"/>
            <a:ext cx="22828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关于峰会的</a:t>
            </a:r>
            <a:endParaRPr lang="zh-CN" altLang="en-US" sz="1400" b="1"/>
          </a:p>
          <a:p>
            <a:r>
              <a:rPr lang="zh-CN" altLang="en-US" sz="1400" b="1"/>
              <a:t>这两块</a:t>
            </a:r>
            <a:r>
              <a:rPr lang="zh-CN" altLang="en-US" sz="1400" b="1"/>
              <a:t>内容感觉可以</a:t>
            </a:r>
            <a:r>
              <a:rPr lang="zh-CN" altLang="en-US" sz="1400" b="1"/>
              <a:t>去掉</a:t>
            </a:r>
            <a:endParaRPr lang="zh-CN" altLang="en-US" sz="1400" b="1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15" y="852805"/>
            <a:ext cx="6227445" cy="29864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0"/>
            <a:ext cx="456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参会指南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42415" y="3926205"/>
            <a:ext cx="4511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/>
              <a:t>地址是</a:t>
            </a:r>
            <a:r>
              <a:rPr lang="en-US" altLang="zh-CN" sz="1400" b="1"/>
              <a:t>  </a:t>
            </a:r>
            <a:r>
              <a:rPr lang="zh-CN" altLang="en-US" sz="1400" b="1"/>
              <a:t>西北大学长安校区</a:t>
            </a:r>
            <a:r>
              <a:rPr lang="en-US" altLang="zh-CN" sz="1400" b="1"/>
              <a:t> </a:t>
            </a:r>
            <a:r>
              <a:rPr lang="zh-CN" altLang="en-US" sz="1400" b="1"/>
              <a:t>星空报告厅</a:t>
            </a:r>
            <a:endParaRPr lang="zh-CN" altLang="en-US" sz="1400" b="1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9755" y="1044575"/>
            <a:ext cx="11033125" cy="2353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3556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3837665281"/>
                </a:ext>
              </a:extLst>
            </a:pPr>
            <a:r>
              <a:rPr lang="zh-CN" altLang="en-US" sz="1400" b="1"/>
              <a:t>首届数智病理西湖峰会（</a:t>
            </a:r>
            <a:r>
              <a:rPr lang="en-US" altLang="zh-CN" sz="1400" b="1"/>
              <a:t>DIPS 2025</a:t>
            </a:r>
            <a:r>
              <a:rPr lang="zh-CN" altLang="en-US" sz="1400" b="1"/>
              <a:t>）简介（可以加在照片</a:t>
            </a:r>
            <a:r>
              <a:rPr lang="zh-CN" altLang="en-US" sz="1400" b="1"/>
              <a:t>前）：</a:t>
            </a:r>
            <a:endParaRPr lang="zh-CN" altLang="en-US" sz="1400" b="1"/>
          </a:p>
          <a:p>
            <a:pPr indent="3556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3837665281"/>
                </a:ext>
              </a:extLst>
            </a:pPr>
            <a:r>
              <a:rPr lang="en-US" altLang="zh-CN" sz="1400"/>
              <a:t>2025</a:t>
            </a:r>
            <a:r>
              <a:rPr lang="zh-CN" altLang="en-US" sz="1400"/>
              <a:t>年</a:t>
            </a:r>
            <a:r>
              <a:rPr lang="en-US" altLang="zh-CN" sz="1400"/>
              <a:t>3</a:t>
            </a:r>
            <a:r>
              <a:rPr lang="zh-CN" altLang="en-US" sz="1400"/>
              <a:t>月</a:t>
            </a:r>
            <a:r>
              <a:rPr lang="en-US" altLang="zh-CN" sz="1400"/>
              <a:t>30</a:t>
            </a:r>
            <a:r>
              <a:rPr lang="zh-CN" altLang="en-US" sz="1400"/>
              <a:t>日，首届数智病理西湖峰会由西湖大学、中华医学会病理学分会和北京精鉴病理学发展基金会联合主办，在西湖大学圆满举办。峰会以</a:t>
            </a:r>
            <a:r>
              <a:rPr lang="en-US" altLang="zh-CN" sz="1400"/>
              <a:t>“</a:t>
            </a:r>
            <a:r>
              <a:rPr lang="zh-CN" altLang="en-US" sz="1400"/>
              <a:t>从</a:t>
            </a:r>
            <a:r>
              <a:rPr lang="en-US" altLang="zh-CN" sz="1400"/>
              <a:t> DeepSeek </a:t>
            </a:r>
            <a:r>
              <a:rPr lang="zh-CN" altLang="en-US" sz="1400"/>
              <a:t>到</a:t>
            </a:r>
            <a:r>
              <a:rPr lang="en-US" altLang="zh-CN" sz="1400"/>
              <a:t> DeepPathAI—— </a:t>
            </a:r>
            <a:r>
              <a:rPr lang="zh-CN" altLang="en-US" sz="1400"/>
              <a:t>大模型时代下的数智病理</a:t>
            </a:r>
            <a:r>
              <a:rPr lang="en-US" altLang="zh-CN" sz="1400"/>
              <a:t>”</a:t>
            </a:r>
            <a:r>
              <a:rPr lang="zh-CN" altLang="en-US" sz="1400"/>
              <a:t>为核心主题，汇聚中国科学院院士、多家三甲医院院长、上百位病理领域知名专家学者及高校人工智能领军专家，共同探讨大模型时代下数智病理的发展与应用。</a:t>
            </a:r>
            <a:endParaRPr lang="zh-CN" altLang="en-US" sz="1400"/>
          </a:p>
          <a:p>
            <a:pPr indent="3556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3837665281"/>
                </a:ext>
              </a:extLst>
            </a:pPr>
            <a:r>
              <a:rPr lang="zh-CN" altLang="en-US" sz="1400"/>
              <a:t>峰会设置开幕式、专题报告、圆桌论坛等环节，施一公、谭蔚泓、董晨三位院士及多位行业专家莅临会议，为数智病理发展指明方向；本次峰会成为病理学与人工智能深度融合的学术盛会，为数智病理领域搭建了高效的交流与合作平台，推动数智病理从技术研究迈向实际应用，也为行业后续发展奠定了坚实基础。</a:t>
            </a:r>
            <a:endParaRPr lang="zh-CN" altLang="en-US" sz="1400"/>
          </a:p>
        </p:txBody>
      </p:sp>
      <p:sp>
        <p:nvSpPr>
          <p:cNvPr id="13" name="文本框 12"/>
          <p:cNvSpPr txBox="1"/>
          <p:nvPr/>
        </p:nvSpPr>
        <p:spPr>
          <a:xfrm>
            <a:off x="0" y="0"/>
            <a:ext cx="456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往届会议</a:t>
            </a:r>
            <a:endParaRPr lang="en-US" altLang="zh-CN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07590" y="537845"/>
            <a:ext cx="34213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C00000"/>
                </a:solidFill>
              </a:rPr>
              <a:t>照片回顾部分加点照片</a:t>
            </a:r>
            <a:r>
              <a:rPr lang="en-US" altLang="zh-CN" sz="1600" b="1">
                <a:solidFill>
                  <a:srgbClr val="C00000"/>
                </a:solidFill>
              </a:rPr>
              <a:t>   </a:t>
            </a:r>
            <a:r>
              <a:rPr lang="zh-CN" altLang="en-US" sz="1600" b="1">
                <a:solidFill>
                  <a:srgbClr val="C00000"/>
                </a:solidFill>
              </a:rPr>
              <a:t>压缩包里</a:t>
            </a:r>
            <a:r>
              <a:rPr lang="en-US" altLang="zh-CN" sz="1600" b="1">
                <a:solidFill>
                  <a:srgbClr val="C00000"/>
                </a:solidFill>
              </a:rPr>
              <a:t> 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0" y="0"/>
            <a:ext cx="456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合作伙伴</a:t>
            </a:r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669290"/>
            <a:ext cx="9079865" cy="328549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621405" y="4255770"/>
            <a:ext cx="2282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这</a:t>
            </a:r>
            <a:r>
              <a:rPr lang="zh-CN" altLang="en-US" sz="1400" b="1"/>
              <a:t>些删掉</a:t>
            </a:r>
            <a:endParaRPr lang="zh-CN" altLang="en-US" sz="1400" b="1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0" y="1541145"/>
            <a:ext cx="8420100" cy="27813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0"/>
            <a:ext cx="456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联系我们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60570" y="1115060"/>
            <a:ext cx="45802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会场地址需要修改：西安市长安区郭杜镇学府大道</a:t>
            </a:r>
            <a:r>
              <a:rPr lang="en-US" altLang="zh-CN" sz="1400" b="1"/>
              <a:t>1</a:t>
            </a:r>
            <a:r>
              <a:rPr lang="zh-CN" altLang="en-US" sz="1400" b="1"/>
              <a:t>号</a:t>
            </a:r>
            <a:endParaRPr lang="zh-CN" altLang="en-US" sz="1400" b="1"/>
          </a:p>
        </p:txBody>
      </p:sp>
      <p:sp>
        <p:nvSpPr>
          <p:cNvPr id="9" name="矩形 8"/>
          <p:cNvSpPr/>
          <p:nvPr/>
        </p:nvSpPr>
        <p:spPr>
          <a:xfrm>
            <a:off x="5639435" y="2108835"/>
            <a:ext cx="1934845" cy="213296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968</Words>
  <Application>WPS 演示</Application>
  <PresentationFormat>宽屏</PresentationFormat>
  <Paragraphs>43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weiyy</cp:lastModifiedBy>
  <cp:revision>172</cp:revision>
  <dcterms:created xsi:type="dcterms:W3CDTF">2019-06-19T02:08:00Z</dcterms:created>
  <dcterms:modified xsi:type="dcterms:W3CDTF">2026-03-13T15:27:56Z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4593E91D057549C9AFC767633016C5DF_11</vt:lpwstr>
  </property>
</Properties>
</file>