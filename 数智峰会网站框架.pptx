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9" r:id="rId3"/>
    <p:sldId id="256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6"/>
        <p:guide pos="38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88900" y="203200"/>
            <a:ext cx="275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整体设计</a:t>
            </a:r>
            <a:r>
              <a:rPr lang="zh-CN" altLang="en-US" sz="2800" b="1">
                <a:solidFill>
                  <a:srgbClr val="C00000"/>
                </a:solidFill>
              </a:rPr>
              <a:t>风格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3760" y="2400300"/>
            <a:ext cx="545274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/>
              <a:t>兼具</a:t>
            </a:r>
            <a:r>
              <a:rPr lang="zh-CN" altLang="en-US" b="1"/>
              <a:t>科技感与学术感</a:t>
            </a:r>
            <a:r>
              <a:rPr lang="zh-CN" altLang="en-US"/>
              <a:t>，主色调为深蓝，辅以白色、浅灰</a:t>
            </a:r>
            <a:r>
              <a:rPr lang="zh-CN" altLang="en-US"/>
              <a:t>等，保持简约、专业、大气的视觉风格。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/>
              <a:t>可</a:t>
            </a:r>
            <a:r>
              <a:rPr lang="zh-CN" altLang="en-US"/>
              <a:t>适当参考首届峰会海报。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670" y="260985"/>
            <a:ext cx="2324735" cy="63741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7185" y="1188720"/>
            <a:ext cx="11737975" cy="1282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22400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关于</a:t>
            </a:r>
            <a:r>
              <a:rPr lang="zh-CN" altLang="en-US" sz="1400"/>
              <a:t>峰会</a:t>
            </a:r>
            <a:endParaRPr lang="zh-CN" altLang="en-US" sz="1400"/>
          </a:p>
        </p:txBody>
      </p:sp>
      <p:sp>
        <p:nvSpPr>
          <p:cNvPr id="13" name="文本框 12"/>
          <p:cNvSpPr txBox="1"/>
          <p:nvPr/>
        </p:nvSpPr>
        <p:spPr>
          <a:xfrm>
            <a:off x="293624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会议通知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9046845" y="1515745"/>
            <a:ext cx="12636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/>
              <a:t>联系我们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900" y="203200"/>
            <a:ext cx="275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首页导航栏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676265" y="1623060"/>
            <a:ext cx="1185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往届会议</a:t>
            </a:r>
            <a:endParaRPr lang="zh-CN" altLang="en-US" sz="1400"/>
          </a:p>
        </p:txBody>
      </p:sp>
      <p:sp>
        <p:nvSpPr>
          <p:cNvPr id="22" name="文本框 21"/>
          <p:cNvSpPr txBox="1"/>
          <p:nvPr/>
        </p:nvSpPr>
        <p:spPr>
          <a:xfrm>
            <a:off x="10965815" y="1623060"/>
            <a:ext cx="838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ym typeface="+mn-ea"/>
              </a:rPr>
              <a:t>🔍</a:t>
            </a:r>
            <a:r>
              <a:rPr lang="en-US" altLang="zh-CN" sz="1200">
                <a:sym typeface="+mn-ea"/>
              </a:rPr>
              <a:t>  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37185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首页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46350" y="3568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固定在顶部，滚动时保持可见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417322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参会指南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7141845" y="1623060"/>
            <a:ext cx="1686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赞助商与</a:t>
            </a:r>
            <a:r>
              <a:rPr lang="zh-CN" altLang="en-US" sz="1400"/>
              <a:t>合作伙伴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1523365" y="2879090"/>
            <a:ext cx="9364980" cy="2353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1400" b="1"/>
              <a:t>从上到下：</a:t>
            </a:r>
            <a:endParaRPr lang="zh-CN" altLang="en-US" sz="1400" b="1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/>
              <a:t>峰会主视觉：</a:t>
            </a:r>
            <a:r>
              <a:rPr lang="zh-CN" altLang="en-US" sz="1400"/>
              <a:t>大图（</a:t>
            </a:r>
            <a:r>
              <a:rPr lang="zh-CN" altLang="en-US" sz="1400"/>
              <a:t>科技风）展示年度主题、时间地点、</a:t>
            </a:r>
            <a:r>
              <a:rPr lang="en-US" altLang="zh-CN" sz="1400"/>
              <a:t> Slogan</a:t>
            </a:r>
            <a:r>
              <a:rPr lang="zh-CN" altLang="en-US" sz="1400"/>
              <a:t>，下方设置</a:t>
            </a:r>
            <a:r>
              <a:rPr lang="en-US" altLang="zh-CN" sz="1400" b="1">
                <a:solidFill>
                  <a:srgbClr val="C00000"/>
                </a:solidFill>
              </a:rPr>
              <a:t>“</a:t>
            </a:r>
            <a:r>
              <a:rPr lang="zh-CN" altLang="en-US" sz="1400" b="1">
                <a:solidFill>
                  <a:srgbClr val="C00000"/>
                </a:solidFill>
              </a:rPr>
              <a:t>查看日程</a:t>
            </a:r>
            <a:r>
              <a:rPr lang="en-US" altLang="zh-CN" sz="1400" b="1">
                <a:solidFill>
                  <a:srgbClr val="C00000"/>
                </a:solidFill>
              </a:rPr>
              <a:t>”</a:t>
            </a:r>
            <a:r>
              <a:rPr lang="zh-CN" altLang="en-US" sz="1400"/>
              <a:t>按钮，跳转至</a:t>
            </a:r>
            <a:r>
              <a:rPr lang="zh-CN" altLang="en-US" sz="1400"/>
              <a:t>会议通知。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/>
              <a:t>倒计时模块：</a:t>
            </a:r>
            <a:r>
              <a:rPr lang="zh-CN" altLang="en-US" sz="1400"/>
              <a:t>显示距离本届峰会的剩余天数，增强紧迫感，样式为数字</a:t>
            </a:r>
            <a:r>
              <a:rPr lang="en-US" altLang="zh-CN" sz="1400"/>
              <a:t> + </a:t>
            </a:r>
            <a:r>
              <a:rPr lang="zh-CN" altLang="en-US" sz="1400"/>
              <a:t>文案组合。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/>
              <a:t>峰会新闻</a:t>
            </a:r>
            <a:r>
              <a:rPr lang="en-US" altLang="zh-CN" sz="1400" b="1"/>
              <a:t>/</a:t>
            </a:r>
            <a:r>
              <a:rPr lang="zh-CN" altLang="en-US" sz="1400" b="1"/>
              <a:t>通知：</a:t>
            </a:r>
            <a:r>
              <a:rPr lang="zh-CN" altLang="en-US" sz="1400"/>
              <a:t>滚动通知栏，展示</a:t>
            </a:r>
            <a:r>
              <a:rPr lang="en-US" altLang="zh-CN" sz="1400"/>
              <a:t> 3 </a:t>
            </a:r>
            <a:r>
              <a:rPr lang="zh-CN" altLang="en-US" sz="1400"/>
              <a:t>条最新会议通知，点击</a:t>
            </a:r>
            <a:r>
              <a:rPr lang="en-US" altLang="zh-CN" sz="1400" b="1">
                <a:solidFill>
                  <a:srgbClr val="C00000"/>
                </a:solidFill>
              </a:rPr>
              <a:t> “</a:t>
            </a:r>
            <a:r>
              <a:rPr lang="zh-CN" altLang="en-US" sz="1400" b="1">
                <a:solidFill>
                  <a:srgbClr val="C00000"/>
                </a:solidFill>
              </a:rPr>
              <a:t>查看全部</a:t>
            </a:r>
            <a:r>
              <a:rPr lang="en-US" altLang="zh-CN" sz="1400" b="1">
                <a:solidFill>
                  <a:srgbClr val="C00000"/>
                </a:solidFill>
              </a:rPr>
              <a:t>” </a:t>
            </a:r>
            <a:r>
              <a:rPr lang="zh-CN" altLang="en-US" sz="1400"/>
              <a:t>跳转至</a:t>
            </a:r>
            <a:r>
              <a:rPr lang="zh-CN" altLang="en-US" sz="1400"/>
              <a:t>具体新闻页。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/>
              <a:t>核心嘉宾预告：</a:t>
            </a:r>
            <a:r>
              <a:rPr lang="zh-CN" altLang="en-US" sz="1400"/>
              <a:t>展示</a:t>
            </a:r>
            <a:r>
              <a:rPr lang="en-US" altLang="zh-CN" sz="1400"/>
              <a:t> 3–5 </a:t>
            </a:r>
            <a:r>
              <a:rPr lang="zh-CN" altLang="en-US" sz="1400"/>
              <a:t>位重磅嘉宾头像及简介，卡片式布局，点击可跳转至嘉宾详情页。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/>
              <a:t>合作伙伴</a:t>
            </a:r>
            <a:r>
              <a:rPr lang="en-US" altLang="zh-CN" sz="1400" b="1"/>
              <a:t> Logo </a:t>
            </a:r>
            <a:r>
              <a:rPr lang="zh-CN" altLang="en-US" sz="1400" b="1"/>
              <a:t>墙：</a:t>
            </a:r>
            <a:r>
              <a:rPr lang="zh-CN" altLang="en-US" sz="1400"/>
              <a:t>按层级展示赞助商</a:t>
            </a:r>
            <a:r>
              <a:rPr lang="en-US" altLang="zh-CN" sz="1400"/>
              <a:t> / </a:t>
            </a:r>
            <a:r>
              <a:rPr lang="zh-CN" altLang="en-US" sz="1400"/>
              <a:t>合作单位</a:t>
            </a:r>
            <a:r>
              <a:rPr lang="en-US" altLang="zh-CN" sz="1400"/>
              <a:t> Logo</a:t>
            </a:r>
            <a:r>
              <a:rPr lang="zh-CN" altLang="en-US" sz="1400"/>
              <a:t>，点击可跳转至合作详情页。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/>
              <a:t>页脚：</a:t>
            </a:r>
            <a:r>
              <a:rPr lang="zh-CN" altLang="en-US" sz="1400"/>
              <a:t>包含版权信息、备案号、官方二维码（微信公众号）。</a:t>
            </a:r>
            <a:endParaRPr lang="zh-CN" altLang="en-US" sz="1400"/>
          </a:p>
        </p:txBody>
      </p:sp>
      <p:sp>
        <p:nvSpPr>
          <p:cNvPr id="2" name="椭圆 1"/>
          <p:cNvSpPr/>
          <p:nvPr/>
        </p:nvSpPr>
        <p:spPr>
          <a:xfrm>
            <a:off x="11052810" y="1669415"/>
            <a:ext cx="125095" cy="17653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888345" y="1929765"/>
            <a:ext cx="562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注册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10793095" y="1398270"/>
            <a:ext cx="657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小人标识</a:t>
            </a:r>
            <a:endParaRPr lang="zh-CN" alt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7185" y="1188720"/>
            <a:ext cx="11737975" cy="1282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22400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关于峰会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3624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会议通知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9046845" y="1515745"/>
            <a:ext cx="12636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/>
              <a:t>联系我们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900" y="203200"/>
            <a:ext cx="275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关于峰会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38495" y="1623060"/>
            <a:ext cx="1185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往届会议</a:t>
            </a:r>
            <a:endParaRPr lang="zh-CN" altLang="en-US" sz="1400"/>
          </a:p>
        </p:txBody>
      </p:sp>
      <p:sp>
        <p:nvSpPr>
          <p:cNvPr id="22" name="文本框 21"/>
          <p:cNvSpPr txBox="1"/>
          <p:nvPr/>
        </p:nvSpPr>
        <p:spPr>
          <a:xfrm>
            <a:off x="10965815" y="1623060"/>
            <a:ext cx="838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ym typeface="+mn-ea"/>
              </a:rPr>
              <a:t>🔍</a:t>
            </a:r>
            <a:r>
              <a:rPr lang="en-US" altLang="zh-CN" sz="1200">
                <a:sym typeface="+mn-ea"/>
              </a:rPr>
              <a:t>  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37185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首页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322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参会指南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7141845" y="1623060"/>
            <a:ext cx="1686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赞助商与</a:t>
            </a:r>
            <a:r>
              <a:rPr lang="zh-CN" altLang="en-US" sz="1400"/>
              <a:t>合作伙伴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1523365" y="2879090"/>
            <a:ext cx="936498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1400" b="1"/>
              <a:t>从上到下：</a:t>
            </a:r>
            <a:endParaRPr lang="zh-CN" altLang="en-US" sz="1400" b="1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/>
              <a:t>标题：</a:t>
            </a:r>
            <a:r>
              <a:rPr lang="zh-CN" altLang="en-US" sz="1400"/>
              <a:t>全国数智病理</a:t>
            </a:r>
            <a:r>
              <a:rPr lang="zh-CN" altLang="en-US" sz="1400"/>
              <a:t>峰会（</a:t>
            </a:r>
            <a:r>
              <a:rPr lang="en-US" altLang="zh-CN" sz="1400"/>
              <a:t>DIPS</a:t>
            </a:r>
            <a:r>
              <a:rPr lang="zh-CN" altLang="en-US" sz="1400"/>
              <a:t>）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/>
              <a:t>内容：</a:t>
            </a:r>
            <a:r>
              <a:rPr lang="zh-CN" altLang="en-US" sz="1400"/>
              <a:t>峰会简介。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/>
              <a:t>历史沿革：</a:t>
            </a:r>
            <a:r>
              <a:rPr lang="zh-CN" altLang="en-US" sz="1400"/>
              <a:t>时间轴形式，展示首届（</a:t>
            </a:r>
            <a:r>
              <a:rPr lang="en-US" altLang="zh-CN" sz="1400"/>
              <a:t>2025</a:t>
            </a:r>
            <a:r>
              <a:rPr lang="zh-CN" altLang="en-US" sz="1400"/>
              <a:t>）及后续年份的峰会主题、核心成果，点击年份可查看往届详情。</a:t>
            </a:r>
            <a:endParaRPr lang="zh-CN" altLang="en-US" sz="1400"/>
          </a:p>
        </p:txBody>
      </p:sp>
      <p:sp>
        <p:nvSpPr>
          <p:cNvPr id="2" name="椭圆 1"/>
          <p:cNvSpPr/>
          <p:nvPr/>
        </p:nvSpPr>
        <p:spPr>
          <a:xfrm>
            <a:off x="11052810" y="1669415"/>
            <a:ext cx="125095" cy="17653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888345" y="1929765"/>
            <a:ext cx="562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注册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10793095" y="1398270"/>
            <a:ext cx="657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小人标识</a:t>
            </a:r>
            <a:endParaRPr lang="zh-CN" alt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7185" y="1188720"/>
            <a:ext cx="11737975" cy="1282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22400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关于峰会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3624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会议通知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046845" y="1515745"/>
            <a:ext cx="12636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/>
              <a:t>联系我们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900" y="203200"/>
            <a:ext cx="275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会议通知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38495" y="1623060"/>
            <a:ext cx="1185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往届会议</a:t>
            </a:r>
            <a:endParaRPr lang="zh-CN" altLang="en-US" sz="1400"/>
          </a:p>
        </p:txBody>
      </p:sp>
      <p:sp>
        <p:nvSpPr>
          <p:cNvPr id="22" name="文本框 21"/>
          <p:cNvSpPr txBox="1"/>
          <p:nvPr/>
        </p:nvSpPr>
        <p:spPr>
          <a:xfrm>
            <a:off x="10965815" y="1623060"/>
            <a:ext cx="838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ym typeface="+mn-ea"/>
              </a:rPr>
              <a:t>🔍</a:t>
            </a:r>
            <a:r>
              <a:rPr lang="en-US" altLang="zh-CN" sz="1200">
                <a:sym typeface="+mn-ea"/>
              </a:rPr>
              <a:t>  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37185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首页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322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参会指南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7141845" y="1623060"/>
            <a:ext cx="1686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赞助商与</a:t>
            </a:r>
            <a:r>
              <a:rPr lang="zh-CN" altLang="en-US" sz="1400"/>
              <a:t>合作伙伴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1523365" y="2879090"/>
            <a:ext cx="936498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1400" b="1"/>
              <a:t>从上到下：</a:t>
            </a:r>
            <a:endParaRPr lang="zh-CN" altLang="en-US" sz="1400" b="1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会议基本信息（海报、日程、嘉宾介绍、时间地点</a:t>
            </a:r>
            <a:r>
              <a:rPr lang="zh-CN" altLang="en-US" sz="1400"/>
              <a:t>等）。</a:t>
            </a:r>
            <a:endParaRPr lang="zh-CN" altLang="en-US" sz="1400"/>
          </a:p>
        </p:txBody>
      </p:sp>
      <p:sp>
        <p:nvSpPr>
          <p:cNvPr id="2" name="椭圆 1"/>
          <p:cNvSpPr/>
          <p:nvPr/>
        </p:nvSpPr>
        <p:spPr>
          <a:xfrm>
            <a:off x="11052810" y="1669415"/>
            <a:ext cx="125095" cy="17653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888345" y="1929765"/>
            <a:ext cx="562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注册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10793095" y="1398270"/>
            <a:ext cx="657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小人标识</a:t>
            </a:r>
            <a:endParaRPr lang="zh-CN" alt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7185" y="1188720"/>
            <a:ext cx="11737975" cy="1282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22400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关于峰会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3624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会议通知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9046845" y="1515745"/>
            <a:ext cx="12636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/>
              <a:t>联系我们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900" y="203200"/>
            <a:ext cx="275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参会指南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38495" y="1623060"/>
            <a:ext cx="1185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往届会议</a:t>
            </a:r>
            <a:endParaRPr lang="zh-CN" altLang="en-US" sz="1400"/>
          </a:p>
        </p:txBody>
      </p:sp>
      <p:sp>
        <p:nvSpPr>
          <p:cNvPr id="22" name="文本框 21"/>
          <p:cNvSpPr txBox="1"/>
          <p:nvPr/>
        </p:nvSpPr>
        <p:spPr>
          <a:xfrm>
            <a:off x="10965815" y="1623060"/>
            <a:ext cx="838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ym typeface="+mn-ea"/>
              </a:rPr>
              <a:t>🔍</a:t>
            </a:r>
            <a:r>
              <a:rPr lang="en-US" altLang="zh-CN" sz="1200">
                <a:sym typeface="+mn-ea"/>
              </a:rPr>
              <a:t>  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37185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首页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322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参会指南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1845" y="1623060"/>
            <a:ext cx="1686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赞助商与</a:t>
            </a:r>
            <a:r>
              <a:rPr lang="zh-CN" altLang="en-US" sz="1400"/>
              <a:t>合作伙伴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1523365" y="2879090"/>
            <a:ext cx="936498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1400" b="1"/>
              <a:t>从上到下：</a:t>
            </a:r>
            <a:endParaRPr lang="zh-CN" altLang="en-US" sz="1400" b="1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注册信息：注册流程、费用说明、邀请制规则，附</a:t>
            </a:r>
            <a:r>
              <a:rPr lang="en-US" altLang="zh-CN" sz="1400"/>
              <a:t> “</a:t>
            </a:r>
            <a:r>
              <a:rPr lang="zh-CN" altLang="en-US" sz="1400"/>
              <a:t>立即注册</a:t>
            </a:r>
            <a:r>
              <a:rPr lang="en-US" altLang="zh-CN" sz="1400"/>
              <a:t>” </a:t>
            </a:r>
            <a:r>
              <a:rPr lang="zh-CN" altLang="en-US" sz="1400"/>
              <a:t>按钮，跳转至注册表单。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会场地址、地图嵌入，交通方式（地铁</a:t>
            </a:r>
            <a:r>
              <a:rPr lang="en-US" altLang="zh-CN" sz="1400"/>
              <a:t> / </a:t>
            </a:r>
            <a:r>
              <a:rPr lang="zh-CN" altLang="en-US" sz="1400"/>
              <a:t>公交</a:t>
            </a:r>
            <a:r>
              <a:rPr lang="en-US" altLang="zh-CN" sz="1400"/>
              <a:t> / </a:t>
            </a:r>
            <a:r>
              <a:rPr lang="zh-CN" altLang="en-US" sz="1400"/>
              <a:t>自驾）说明。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会场信息：会场平面图等信息。</a:t>
            </a:r>
            <a:endParaRPr lang="zh-CN" altLang="en-US" sz="1400"/>
          </a:p>
        </p:txBody>
      </p:sp>
      <p:sp>
        <p:nvSpPr>
          <p:cNvPr id="2" name="椭圆 1"/>
          <p:cNvSpPr/>
          <p:nvPr/>
        </p:nvSpPr>
        <p:spPr>
          <a:xfrm>
            <a:off x="11052810" y="1669415"/>
            <a:ext cx="125095" cy="17653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888345" y="1929765"/>
            <a:ext cx="562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注册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10793095" y="1398270"/>
            <a:ext cx="657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小人标识</a:t>
            </a:r>
            <a:endParaRPr lang="zh-CN" alt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7185" y="1188720"/>
            <a:ext cx="11737975" cy="1282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22400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关于峰会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3624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会议通知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9046845" y="1515745"/>
            <a:ext cx="12636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/>
              <a:t>联系我们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900" y="203200"/>
            <a:ext cx="275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往届会议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38495" y="1623060"/>
            <a:ext cx="1185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往届会议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965815" y="1623060"/>
            <a:ext cx="838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ym typeface="+mn-ea"/>
              </a:rPr>
              <a:t>🔍</a:t>
            </a:r>
            <a:r>
              <a:rPr lang="en-US" altLang="zh-CN" sz="1200">
                <a:sym typeface="+mn-ea"/>
              </a:rPr>
              <a:t>  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37185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首页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322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参会指南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1845" y="1623060"/>
            <a:ext cx="1686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赞助商与</a:t>
            </a:r>
            <a:r>
              <a:rPr lang="zh-CN" altLang="en-US" sz="1400"/>
              <a:t>合作伙伴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1485265" y="3596640"/>
            <a:ext cx="936498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1400" b="1"/>
              <a:t>从上到下：</a:t>
            </a:r>
            <a:endParaRPr lang="zh-CN" altLang="en-US" sz="1400" b="1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年度日程、嘉宾阵容，现场视频、</a:t>
            </a:r>
            <a:r>
              <a:rPr lang="zh-CN" altLang="en-US" sz="1400"/>
              <a:t>照片回顾</a:t>
            </a:r>
            <a:r>
              <a:rPr lang="zh-CN" altLang="en-US" sz="1400"/>
              <a:t>等。</a:t>
            </a:r>
            <a:endParaRPr lang="zh-CN" altLang="en-US" sz="1400"/>
          </a:p>
        </p:txBody>
      </p:sp>
      <p:sp>
        <p:nvSpPr>
          <p:cNvPr id="2" name="矩形 1"/>
          <p:cNvSpPr/>
          <p:nvPr/>
        </p:nvSpPr>
        <p:spPr>
          <a:xfrm>
            <a:off x="5672455" y="2522855"/>
            <a:ext cx="2660015" cy="71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812155" y="2673350"/>
            <a:ext cx="23234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首届全国数智病理西湖峰会</a:t>
            </a:r>
            <a:endParaRPr lang="zh-CN" altLang="en-US" sz="14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6313805" y="2070100"/>
            <a:ext cx="0" cy="317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11052810" y="1669415"/>
            <a:ext cx="125095" cy="17653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888345" y="1929765"/>
            <a:ext cx="562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注册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10793095" y="1398270"/>
            <a:ext cx="657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小人标识</a:t>
            </a:r>
            <a:endParaRPr lang="zh-CN" alt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7185" y="1188720"/>
            <a:ext cx="11737975" cy="1282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22400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关于峰会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3624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会议通知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9046845" y="1515745"/>
            <a:ext cx="12636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/>
              <a:t>联系我们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900" y="203200"/>
            <a:ext cx="34137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赞助商与合作</a:t>
            </a:r>
            <a:r>
              <a:rPr lang="zh-CN" altLang="en-US" sz="2800" b="1">
                <a:solidFill>
                  <a:srgbClr val="C00000"/>
                </a:solidFill>
              </a:rPr>
              <a:t>伙伴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38495" y="1623060"/>
            <a:ext cx="1185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往届会议</a:t>
            </a:r>
            <a:endParaRPr lang="zh-CN" altLang="en-US" sz="1400"/>
          </a:p>
        </p:txBody>
      </p:sp>
      <p:sp>
        <p:nvSpPr>
          <p:cNvPr id="22" name="文本框 21"/>
          <p:cNvSpPr txBox="1"/>
          <p:nvPr/>
        </p:nvSpPr>
        <p:spPr>
          <a:xfrm>
            <a:off x="10965815" y="1623060"/>
            <a:ext cx="838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ym typeface="+mn-ea"/>
              </a:rPr>
              <a:t>🔍</a:t>
            </a:r>
            <a:r>
              <a:rPr lang="en-US" altLang="zh-CN" sz="1200">
                <a:sym typeface="+mn-ea"/>
              </a:rPr>
              <a:t>  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37185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首页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322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参会指南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1845" y="1623060"/>
            <a:ext cx="1686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赞助商与合作伙伴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23365" y="2879090"/>
            <a:ext cx="1017079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1400" b="1"/>
              <a:t>从上到下：</a:t>
            </a:r>
            <a:endParaRPr lang="zh-CN" altLang="en-US" sz="1400" b="1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赞助商</a:t>
            </a:r>
            <a:r>
              <a:rPr lang="en-US" altLang="zh-CN" sz="1400"/>
              <a:t>/</a:t>
            </a:r>
            <a:r>
              <a:rPr lang="zh-CN" altLang="en-US" sz="1400"/>
              <a:t>合作伙伴展示</a:t>
            </a:r>
            <a:r>
              <a:rPr lang="en-US" altLang="zh-CN" sz="1400"/>
              <a:t>logo</a:t>
            </a:r>
            <a:r>
              <a:rPr lang="zh-CN" altLang="en-US" sz="1400"/>
              <a:t>。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报名表，</a:t>
            </a:r>
            <a:r>
              <a:rPr lang="zh-CN" altLang="en-US" sz="1400"/>
              <a:t>跳转问卷星。</a:t>
            </a:r>
            <a:endParaRPr lang="zh-CN" altLang="en-US" sz="1400"/>
          </a:p>
        </p:txBody>
      </p:sp>
      <p:sp>
        <p:nvSpPr>
          <p:cNvPr id="2" name="椭圆 1"/>
          <p:cNvSpPr/>
          <p:nvPr/>
        </p:nvSpPr>
        <p:spPr>
          <a:xfrm>
            <a:off x="11052810" y="1669415"/>
            <a:ext cx="125095" cy="17653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888345" y="1929765"/>
            <a:ext cx="562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注册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10793095" y="1398270"/>
            <a:ext cx="657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小人标识</a:t>
            </a:r>
            <a:endParaRPr lang="zh-CN" alt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7185" y="1188720"/>
            <a:ext cx="11737975" cy="1282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22400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关于峰会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3624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会议通知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9046845" y="1515745"/>
            <a:ext cx="12636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 b="1">
                <a:solidFill>
                  <a:srgbClr val="C00000"/>
                </a:solidFill>
              </a:rPr>
              <a:t>联系我们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900" y="203200"/>
            <a:ext cx="275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联系我们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38495" y="1623060"/>
            <a:ext cx="1185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往届会议</a:t>
            </a:r>
            <a:endParaRPr lang="zh-CN" altLang="en-US" sz="1400"/>
          </a:p>
        </p:txBody>
      </p:sp>
      <p:sp>
        <p:nvSpPr>
          <p:cNvPr id="22" name="文本框 21"/>
          <p:cNvSpPr txBox="1"/>
          <p:nvPr/>
        </p:nvSpPr>
        <p:spPr>
          <a:xfrm>
            <a:off x="10965815" y="1623060"/>
            <a:ext cx="838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ym typeface="+mn-ea"/>
              </a:rPr>
              <a:t>🔍</a:t>
            </a:r>
            <a:r>
              <a:rPr lang="en-US" altLang="zh-CN" sz="1200">
                <a:sym typeface="+mn-ea"/>
              </a:rPr>
              <a:t>  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37185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首页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322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参会指南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1845" y="1623060"/>
            <a:ext cx="1686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赞助商与</a:t>
            </a:r>
            <a:r>
              <a:rPr lang="zh-CN" altLang="en-US" sz="1400"/>
              <a:t>合作伙伴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1523365" y="2879090"/>
            <a:ext cx="936498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联系人：方</a:t>
            </a:r>
            <a:r>
              <a:rPr lang="zh-CN" altLang="en-US" sz="1400"/>
              <a:t>老师</a:t>
            </a:r>
            <a:endParaRPr lang="zh-CN" altLang="en-US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电话：</a:t>
            </a:r>
            <a:r>
              <a:rPr lang="en-US" altLang="zh-CN" sz="1400"/>
              <a:t>13277093146</a:t>
            </a:r>
            <a:endParaRPr lang="en-US" altLang="zh-CN" sz="1400"/>
          </a:p>
          <a:p>
            <a:pPr marL="228600" indent="-2286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/>
              <a:t>邮箱：</a:t>
            </a:r>
            <a:r>
              <a:rPr lang="en-US" altLang="zh-CN" sz="1400"/>
              <a:t>can.</a:t>
            </a:r>
            <a:r>
              <a:rPr lang="en-US" altLang="zh-CN" sz="1400"/>
              <a:t>fang@dipath.cn</a:t>
            </a:r>
            <a:endParaRPr lang="en-US" altLang="zh-CN" sz="1400"/>
          </a:p>
          <a:p>
            <a:pPr indent="0" fontAlgn="auto">
              <a:lnSpc>
                <a:spcPct val="150000"/>
              </a:lnSpc>
              <a:buFont typeface="+mj-ea"/>
              <a:buNone/>
            </a:pPr>
            <a:endParaRPr lang="zh-CN" altLang="en-US" sz="1400"/>
          </a:p>
        </p:txBody>
      </p:sp>
      <p:sp>
        <p:nvSpPr>
          <p:cNvPr id="2" name="椭圆 1"/>
          <p:cNvSpPr/>
          <p:nvPr/>
        </p:nvSpPr>
        <p:spPr>
          <a:xfrm>
            <a:off x="11052810" y="1669415"/>
            <a:ext cx="125095" cy="17653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888345" y="1929765"/>
            <a:ext cx="562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注册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10793095" y="1398270"/>
            <a:ext cx="657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小人标识</a:t>
            </a:r>
            <a:endParaRPr lang="zh-CN" alt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7185" y="1188720"/>
            <a:ext cx="11737975" cy="1282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22400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关于峰会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3624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会议通知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9046845" y="1515745"/>
            <a:ext cx="12636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</a:rPr>
              <a:t>联系我们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900" y="203200"/>
            <a:ext cx="275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注册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38495" y="1623060"/>
            <a:ext cx="1185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往届会议</a:t>
            </a:r>
            <a:endParaRPr lang="zh-CN" altLang="en-US" sz="1400"/>
          </a:p>
        </p:txBody>
      </p:sp>
      <p:sp>
        <p:nvSpPr>
          <p:cNvPr id="22" name="文本框 21"/>
          <p:cNvSpPr txBox="1"/>
          <p:nvPr/>
        </p:nvSpPr>
        <p:spPr>
          <a:xfrm>
            <a:off x="10965815" y="1623060"/>
            <a:ext cx="838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ym typeface="+mn-ea"/>
              </a:rPr>
              <a:t>🔍</a:t>
            </a:r>
            <a:r>
              <a:rPr lang="en-US" altLang="zh-CN" sz="1200">
                <a:sym typeface="+mn-ea"/>
              </a:rPr>
              <a:t>  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37185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首页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322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参会指南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1845" y="1623060"/>
            <a:ext cx="1686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赞助商与</a:t>
            </a:r>
            <a:r>
              <a:rPr lang="zh-CN" altLang="en-US" sz="1400"/>
              <a:t>合作伙伴</a:t>
            </a:r>
            <a:endParaRPr lang="zh-CN" altLang="en-US" sz="1400"/>
          </a:p>
        </p:txBody>
      </p:sp>
      <p:sp>
        <p:nvSpPr>
          <p:cNvPr id="2" name="椭圆 1"/>
          <p:cNvSpPr/>
          <p:nvPr/>
        </p:nvSpPr>
        <p:spPr>
          <a:xfrm>
            <a:off x="11052810" y="1669415"/>
            <a:ext cx="125095" cy="17653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888345" y="1929765"/>
            <a:ext cx="562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</a:rPr>
              <a:t>注册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93095" y="1398270"/>
            <a:ext cx="657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小人标识</a:t>
            </a:r>
            <a:endParaRPr lang="zh-CN" alt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56335" y="2997200"/>
            <a:ext cx="240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跳转</a:t>
            </a:r>
            <a:r>
              <a:rPr lang="zh-CN" altLang="en-US"/>
              <a:t>问卷星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37185" y="1188720"/>
            <a:ext cx="11737975" cy="12827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22400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关于峰会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3624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会议通知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9046845" y="1515745"/>
            <a:ext cx="12636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</a:rPr>
              <a:t>联系我们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900" y="203200"/>
            <a:ext cx="275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solidFill>
                  <a:srgbClr val="C00000"/>
                </a:solidFill>
              </a:rPr>
              <a:t>搜索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38495" y="1623060"/>
            <a:ext cx="1185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往届会议</a:t>
            </a:r>
            <a:endParaRPr lang="zh-CN" altLang="en-US" sz="1400"/>
          </a:p>
        </p:txBody>
      </p:sp>
      <p:sp>
        <p:nvSpPr>
          <p:cNvPr id="22" name="文本框 21"/>
          <p:cNvSpPr txBox="1"/>
          <p:nvPr/>
        </p:nvSpPr>
        <p:spPr>
          <a:xfrm>
            <a:off x="10965815" y="1623060"/>
            <a:ext cx="8382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highlight>
                  <a:srgbClr val="FFFF00"/>
                </a:highlight>
                <a:sym typeface="+mn-ea"/>
              </a:rPr>
              <a:t>🔍</a:t>
            </a:r>
            <a:r>
              <a:rPr lang="en-US" altLang="zh-CN" sz="1200">
                <a:highlight>
                  <a:srgbClr val="FFFF00"/>
                </a:highlight>
                <a:sym typeface="+mn-ea"/>
              </a:rPr>
              <a:t>  </a:t>
            </a:r>
            <a:endParaRPr lang="en-US" altLang="zh-CN" sz="1200">
              <a:highlight>
                <a:srgbClr val="FFFF00"/>
              </a:highligh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7185" y="1623060"/>
            <a:ext cx="186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首页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3220" y="1623060"/>
            <a:ext cx="1299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</a:rPr>
              <a:t>参会指南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1845" y="1623060"/>
            <a:ext cx="16865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赞助商与</a:t>
            </a:r>
            <a:r>
              <a:rPr lang="zh-CN" altLang="en-US" sz="1400"/>
              <a:t>合作伙伴</a:t>
            </a:r>
            <a:endParaRPr lang="zh-CN" altLang="en-US" sz="1400"/>
          </a:p>
        </p:txBody>
      </p:sp>
      <p:sp>
        <p:nvSpPr>
          <p:cNvPr id="2" name="椭圆 1"/>
          <p:cNvSpPr/>
          <p:nvPr/>
        </p:nvSpPr>
        <p:spPr>
          <a:xfrm>
            <a:off x="11052810" y="1669415"/>
            <a:ext cx="125095" cy="17653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888345" y="1929765"/>
            <a:ext cx="562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tx1"/>
                </a:solidFill>
              </a:rPr>
              <a:t>注册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93095" y="1398270"/>
            <a:ext cx="6578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小人标识</a:t>
            </a:r>
            <a:endParaRPr lang="zh-CN" alt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56335" y="2997200"/>
            <a:ext cx="240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搜索框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WPS 演示</Application>
  <PresentationFormat>宽屏</PresentationFormat>
  <Paragraphs>244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weiyy</cp:lastModifiedBy>
  <cp:revision>182</cp:revision>
  <dcterms:created xsi:type="dcterms:W3CDTF">2019-06-19T02:08:00Z</dcterms:created>
  <dcterms:modified xsi:type="dcterms:W3CDTF">2026-03-10T03:41:54Z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3794EEAEC88A4BA09B822AB2296BA37E_11</vt:lpwstr>
  </property>
</Properties>
</file>